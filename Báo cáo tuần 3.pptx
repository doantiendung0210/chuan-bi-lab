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2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2520" y="2971800"/>
            <a:ext cx="996696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5100" b="1">
                <a:solidFill>
                  <a:srgbClr val="131923"/>
                </a:solidFill>
                <a:latin typeface="Arial"/>
              </a:defRPr>
            </a:pPr>
            <a:r>
              <a:rPr dirty="0"/>
              <a:t>BÁO CÁO TUẦN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438912"/>
            <a:ext cx="1088136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131923"/>
                </a:solidFill>
                <a:latin typeface="Arial"/>
              </a:defRPr>
            </a:pPr>
            <a:r>
              <a:t>Tổng quan nội dung</a:t>
            </a:r>
          </a:p>
        </p:txBody>
      </p:sp>
      <p:sp>
        <p:nvSpPr>
          <p:cNvPr id="3" name="Oval 2"/>
          <p:cNvSpPr/>
          <p:nvPr/>
        </p:nvSpPr>
        <p:spPr>
          <a:xfrm>
            <a:off x="1207008" y="1545336"/>
            <a:ext cx="502920" cy="502920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07008" y="1545336"/>
            <a:ext cx="502920" cy="5029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417320"/>
            <a:ext cx="8869680" cy="7315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500"/>
              </a:spcAft>
              <a:defRPr sz="2900" b="0">
                <a:solidFill>
                  <a:srgbClr val="131923"/>
                </a:solidFill>
                <a:latin typeface="Arial"/>
              </a:defRPr>
            </a:pPr>
            <a:r>
              <a:t>Ensemble Learning</a:t>
            </a:r>
          </a:p>
        </p:txBody>
      </p:sp>
      <p:sp>
        <p:nvSpPr>
          <p:cNvPr id="6" name="Oval 5"/>
          <p:cNvSpPr/>
          <p:nvPr/>
        </p:nvSpPr>
        <p:spPr>
          <a:xfrm>
            <a:off x="1207008" y="2487168"/>
            <a:ext cx="502920" cy="502920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07008" y="2487168"/>
            <a:ext cx="502920" cy="5029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359152"/>
            <a:ext cx="8869680" cy="7315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500"/>
              </a:spcAft>
              <a:defRPr sz="2900" b="0">
                <a:solidFill>
                  <a:srgbClr val="131923"/>
                </a:solidFill>
                <a:latin typeface="Arial"/>
              </a:defRPr>
            </a:pPr>
            <a:r>
              <a:t>Semi-Supervised Learning</a:t>
            </a:r>
          </a:p>
        </p:txBody>
      </p:sp>
      <p:sp>
        <p:nvSpPr>
          <p:cNvPr id="9" name="Oval 8"/>
          <p:cNvSpPr/>
          <p:nvPr/>
        </p:nvSpPr>
        <p:spPr>
          <a:xfrm>
            <a:off x="1207008" y="3429000"/>
            <a:ext cx="502920" cy="502920"/>
          </a:xfrm>
          <a:prstGeom prst="ellipse">
            <a:avLst/>
          </a:prstGeom>
          <a:solidFill>
            <a:srgbClr val="775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7008" y="3429000"/>
            <a:ext cx="502920" cy="5029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300984"/>
            <a:ext cx="8869680" cy="7315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500"/>
              </a:spcAft>
              <a:defRPr sz="2900" b="0">
                <a:solidFill>
                  <a:srgbClr val="131923"/>
                </a:solidFill>
                <a:latin typeface="Arial"/>
              </a:defRPr>
            </a:pPr>
            <a:r>
              <a:t>Probabilistic Graphical Models</a:t>
            </a:r>
          </a:p>
        </p:txBody>
      </p:sp>
      <p:sp>
        <p:nvSpPr>
          <p:cNvPr id="12" name="Oval 11"/>
          <p:cNvSpPr/>
          <p:nvPr/>
        </p:nvSpPr>
        <p:spPr>
          <a:xfrm>
            <a:off x="1207008" y="4370831"/>
            <a:ext cx="502920" cy="502920"/>
          </a:xfrm>
          <a:prstGeom prst="ellipse">
            <a:avLst/>
          </a:prstGeom>
          <a:solidFill>
            <a:srgbClr val="E49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07008" y="4370831"/>
            <a:ext cx="502920" cy="5029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4242816"/>
            <a:ext cx="8869680" cy="7315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500"/>
              </a:spcAft>
              <a:defRPr sz="2900" b="0">
                <a:solidFill>
                  <a:srgbClr val="131923"/>
                </a:solidFill>
                <a:latin typeface="Arial"/>
              </a:defRPr>
            </a:pPr>
            <a:r>
              <a:t>Recommendation Systems</a:t>
            </a:r>
          </a:p>
        </p:txBody>
      </p:sp>
      <p:sp>
        <p:nvSpPr>
          <p:cNvPr id="15" name="Oval 14"/>
          <p:cNvSpPr/>
          <p:nvPr/>
        </p:nvSpPr>
        <p:spPr>
          <a:xfrm>
            <a:off x="1207008" y="5312664"/>
            <a:ext cx="502920" cy="502920"/>
          </a:xfrm>
          <a:prstGeom prst="ellipse">
            <a:avLst/>
          </a:prstGeom>
          <a:solidFill>
            <a:srgbClr val="25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07008" y="5312664"/>
            <a:ext cx="502920" cy="5029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5184648"/>
            <a:ext cx="8869680" cy="7315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500"/>
              </a:spcAft>
              <a:defRPr sz="2900" b="0">
                <a:solidFill>
                  <a:srgbClr val="131923"/>
                </a:solidFill>
                <a:latin typeface="Arial"/>
              </a:defRPr>
            </a:pPr>
            <a:r>
              <a:t>MLOps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37960"/>
            <a:ext cx="384048" cy="2103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9BA3AD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2596896"/>
            <a:ext cx="10287000" cy="1399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4600" b="1">
                <a:solidFill>
                  <a:srgbClr val="131923"/>
                </a:solidFill>
                <a:latin typeface="Arial"/>
              </a:defRPr>
            </a:pPr>
            <a:r>
              <a:t>1. Ensemble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37960"/>
            <a:ext cx="384048" cy="2103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9BA3AD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438912"/>
            <a:ext cx="1088136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131923"/>
                </a:solidFill>
                <a:latin typeface="Arial"/>
              </a:defRPr>
            </a:pPr>
            <a:r>
              <a:t>1. Ensemble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88136"/>
            <a:ext cx="10744200" cy="4297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5B6776"/>
                </a:solidFill>
                <a:latin typeface="Arial"/>
              </a:defRPr>
            </a:pPr>
            <a:r>
              <a:t>Kết hợp dự đoán của nhiều mô hình</a:t>
            </a:r>
          </a:p>
        </p:txBody>
      </p:sp>
      <p:sp>
        <p:nvSpPr>
          <p:cNvPr id="4" name="Oval 3"/>
          <p:cNvSpPr/>
          <p:nvPr/>
        </p:nvSpPr>
        <p:spPr>
          <a:xfrm>
            <a:off x="1463040" y="1828800"/>
            <a:ext cx="128016" cy="128016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709928" y="1828800"/>
            <a:ext cx="128016" cy="128016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956816" y="1828800"/>
            <a:ext cx="128016" cy="128016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203704" y="1828800"/>
            <a:ext cx="128016" cy="128016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450592" y="1828800"/>
            <a:ext cx="128016" cy="128016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463040" y="2075688"/>
            <a:ext cx="128016" cy="128016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709928" y="2075688"/>
            <a:ext cx="128016" cy="128016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956816" y="2075688"/>
            <a:ext cx="128016" cy="128016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203704" y="2075688"/>
            <a:ext cx="128016" cy="128016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450592" y="2075688"/>
            <a:ext cx="128016" cy="128016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63040" y="2322576"/>
            <a:ext cx="128016" cy="128016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709928" y="2322576"/>
            <a:ext cx="128016" cy="128016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956816" y="2322576"/>
            <a:ext cx="128016" cy="128016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203704" y="2322576"/>
            <a:ext cx="128016" cy="128016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450592" y="2322576"/>
            <a:ext cx="128016" cy="128016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5840" y="3108960"/>
            <a:ext cx="2560320" cy="685800"/>
          </a:xfrm>
          <a:prstGeom prst="roundRect">
            <a:avLst/>
          </a:prstGeom>
          <a:solidFill>
            <a:srgbClr val="E8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3136391"/>
            <a:ext cx="2468879" cy="63093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131923"/>
                </a:solidFill>
                <a:latin typeface="Arial"/>
              </a:defRPr>
            </a:pPr>
            <a:r>
              <a:t>Mô hình 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86000" y="3794760"/>
            <a:ext cx="3794760" cy="914400"/>
          </a:xfrm>
          <a:prstGeom prst="line">
            <a:avLst/>
          </a:prstGeom>
          <a:ln w="25400">
            <a:solidFill>
              <a:srgbClr val="1C64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120640" y="1828800"/>
            <a:ext cx="128016" cy="128016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367527" y="1828800"/>
            <a:ext cx="128016" cy="128016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614416" y="1828800"/>
            <a:ext cx="128016" cy="128016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861304" y="1828800"/>
            <a:ext cx="128016" cy="128016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108192" y="1828800"/>
            <a:ext cx="128016" cy="128016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120640" y="2075688"/>
            <a:ext cx="128016" cy="128016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367527" y="2075688"/>
            <a:ext cx="128016" cy="128016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614416" y="2075688"/>
            <a:ext cx="128016" cy="128016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861304" y="2075688"/>
            <a:ext cx="128016" cy="128016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108192" y="2075688"/>
            <a:ext cx="128016" cy="128016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120640" y="2322576"/>
            <a:ext cx="128016" cy="128016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367527" y="2322576"/>
            <a:ext cx="128016" cy="128016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614416" y="2322576"/>
            <a:ext cx="128016" cy="128016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861304" y="2322576"/>
            <a:ext cx="128016" cy="128016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108192" y="2322576"/>
            <a:ext cx="128016" cy="128016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663440" y="3108960"/>
            <a:ext cx="2560320" cy="685800"/>
          </a:xfrm>
          <a:prstGeom prst="roundRect">
            <a:avLst/>
          </a:prstGeom>
          <a:solidFill>
            <a:srgbClr val="E8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09159" y="3136391"/>
            <a:ext cx="2468879" cy="63093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131923"/>
                </a:solidFill>
                <a:latin typeface="Arial"/>
              </a:defRPr>
            </a:pPr>
            <a:r>
              <a:t>Mô hình B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43600" y="3794760"/>
            <a:ext cx="137160" cy="914400"/>
          </a:xfrm>
          <a:prstGeom prst="line">
            <a:avLst/>
          </a:prstGeom>
          <a:ln w="25400">
            <a:solidFill>
              <a:srgbClr val="229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8778240" y="1828800"/>
            <a:ext cx="128016" cy="128016"/>
          </a:xfrm>
          <a:prstGeom prst="ellipse">
            <a:avLst/>
          </a:prstGeom>
          <a:solidFill>
            <a:srgbClr val="775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025128" y="1828800"/>
            <a:ext cx="128016" cy="128016"/>
          </a:xfrm>
          <a:prstGeom prst="ellipse">
            <a:avLst/>
          </a:prstGeom>
          <a:solidFill>
            <a:srgbClr val="775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272016" y="1828800"/>
            <a:ext cx="128016" cy="128016"/>
          </a:xfrm>
          <a:prstGeom prst="ellipse">
            <a:avLst/>
          </a:prstGeom>
          <a:solidFill>
            <a:srgbClr val="775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518904" y="1828800"/>
            <a:ext cx="128016" cy="128016"/>
          </a:xfrm>
          <a:prstGeom prst="ellipse">
            <a:avLst/>
          </a:prstGeom>
          <a:solidFill>
            <a:srgbClr val="775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765792" y="1828800"/>
            <a:ext cx="128016" cy="128016"/>
          </a:xfrm>
          <a:prstGeom prst="ellipse">
            <a:avLst/>
          </a:prstGeom>
          <a:solidFill>
            <a:srgbClr val="775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778240" y="2075688"/>
            <a:ext cx="128016" cy="128016"/>
          </a:xfrm>
          <a:prstGeom prst="ellipse">
            <a:avLst/>
          </a:prstGeom>
          <a:solidFill>
            <a:srgbClr val="775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025128" y="2075688"/>
            <a:ext cx="128016" cy="128016"/>
          </a:xfrm>
          <a:prstGeom prst="ellipse">
            <a:avLst/>
          </a:prstGeom>
          <a:solidFill>
            <a:srgbClr val="775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272016" y="2075688"/>
            <a:ext cx="128016" cy="128016"/>
          </a:xfrm>
          <a:prstGeom prst="ellipse">
            <a:avLst/>
          </a:prstGeom>
          <a:solidFill>
            <a:srgbClr val="775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518904" y="2075688"/>
            <a:ext cx="128016" cy="128016"/>
          </a:xfrm>
          <a:prstGeom prst="ellipse">
            <a:avLst/>
          </a:prstGeom>
          <a:solidFill>
            <a:srgbClr val="775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765792" y="2075688"/>
            <a:ext cx="128016" cy="128016"/>
          </a:xfrm>
          <a:prstGeom prst="ellipse">
            <a:avLst/>
          </a:prstGeom>
          <a:solidFill>
            <a:srgbClr val="775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778240" y="2322576"/>
            <a:ext cx="128016" cy="128016"/>
          </a:xfrm>
          <a:prstGeom prst="ellipse">
            <a:avLst/>
          </a:prstGeom>
          <a:solidFill>
            <a:srgbClr val="775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025128" y="2322576"/>
            <a:ext cx="128016" cy="128016"/>
          </a:xfrm>
          <a:prstGeom prst="ellipse">
            <a:avLst/>
          </a:prstGeom>
          <a:solidFill>
            <a:srgbClr val="775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9272016" y="2322576"/>
            <a:ext cx="128016" cy="128016"/>
          </a:xfrm>
          <a:prstGeom prst="ellipse">
            <a:avLst/>
          </a:prstGeom>
          <a:solidFill>
            <a:srgbClr val="775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518904" y="2322576"/>
            <a:ext cx="128016" cy="128016"/>
          </a:xfrm>
          <a:prstGeom prst="ellipse">
            <a:avLst/>
          </a:prstGeom>
          <a:solidFill>
            <a:srgbClr val="775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9765792" y="2322576"/>
            <a:ext cx="128016" cy="128016"/>
          </a:xfrm>
          <a:prstGeom prst="ellipse">
            <a:avLst/>
          </a:prstGeom>
          <a:solidFill>
            <a:srgbClr val="775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8321040" y="3108960"/>
            <a:ext cx="2560320" cy="685800"/>
          </a:xfrm>
          <a:prstGeom prst="roundRect">
            <a:avLst/>
          </a:prstGeom>
          <a:solidFill>
            <a:srgbClr val="E8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66760" y="3136391"/>
            <a:ext cx="2468879" cy="63093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131923"/>
                </a:solidFill>
                <a:latin typeface="Arial"/>
              </a:defRPr>
            </a:pPr>
            <a:r>
              <a:t>Mô hình C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6080760" y="3794760"/>
            <a:ext cx="3520440" cy="914400"/>
          </a:xfrm>
          <a:prstGeom prst="line">
            <a:avLst/>
          </a:prstGeom>
          <a:ln w="25400">
            <a:solidFill>
              <a:srgbClr val="775A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4416552" y="4736592"/>
            <a:ext cx="3337560" cy="868680"/>
          </a:xfrm>
          <a:prstGeom prst="roundRect">
            <a:avLst/>
          </a:prstGeom>
          <a:solidFill>
            <a:srgbClr val="DA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462272" y="4764024"/>
            <a:ext cx="3246120" cy="8138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131923"/>
                </a:solidFill>
                <a:latin typeface="Arial"/>
              </a:defRPr>
            </a:pPr>
            <a:r>
              <a:t>KẾT QUẢ CHUNG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6035040"/>
            <a:ext cx="103327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900" b="0">
                <a:solidFill>
                  <a:srgbClr val="5B6776"/>
                </a:solidFill>
                <a:latin typeface="Arial"/>
              </a:defRPr>
            </a:pPr>
            <a:r>
              <a:rPr dirty="0" err="1"/>
              <a:t>Tăng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 </a:t>
            </a:r>
            <a:r>
              <a:rPr dirty="0" err="1"/>
              <a:t>xác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ổn</a:t>
            </a:r>
            <a:r>
              <a:rPr dirty="0"/>
              <a:t> </a:t>
            </a:r>
            <a:r>
              <a:rPr dirty="0" err="1"/>
              <a:t>định</a:t>
            </a:r>
            <a:endParaRPr dirty="0"/>
          </a:p>
        </p:txBody>
      </p:sp>
      <p:sp>
        <p:nvSpPr>
          <p:cNvPr id="61" name="TextBox 60"/>
          <p:cNvSpPr txBox="1"/>
          <p:nvPr/>
        </p:nvSpPr>
        <p:spPr>
          <a:xfrm>
            <a:off x="11475720" y="6537960"/>
            <a:ext cx="384048" cy="2103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9BA3AD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438912"/>
            <a:ext cx="1088136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131923"/>
                </a:solidFill>
                <a:latin typeface="Arial"/>
              </a:defRPr>
            </a:pPr>
            <a:r>
              <a:t>1. Ensemble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88136"/>
            <a:ext cx="10744200" cy="4297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5B6776"/>
                </a:solidFill>
                <a:latin typeface="Arial"/>
              </a:defRPr>
            </a:pPr>
            <a:r>
              <a:t>Bốn kỹ thuật phổ biến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00784"/>
            <a:ext cx="5257800" cy="18288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2203704"/>
            <a:ext cx="731520" cy="731520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203704"/>
            <a:ext cx="731520" cy="7315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066544"/>
            <a:ext cx="3749039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31923"/>
                </a:solidFill>
                <a:latin typeface="Arial"/>
              </a:defRPr>
            </a:pPr>
            <a:r>
              <a:t>BAGGING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688336"/>
            <a:ext cx="379476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100" b="0">
                <a:solidFill>
                  <a:srgbClr val="131923"/>
                </a:solidFill>
                <a:latin typeface="Arial"/>
              </a:defRPr>
            </a:pPr>
            <a:r>
              <a:t>Huấn luyện song song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73952" y="1700784"/>
            <a:ext cx="5257800" cy="18288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793992" y="2203704"/>
            <a:ext cx="731520" cy="731520"/>
          </a:xfrm>
          <a:prstGeom prst="ellipse">
            <a:avLst/>
          </a:prstGeom>
          <a:solidFill>
            <a:srgbClr val="E49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93992" y="2203704"/>
            <a:ext cx="731520" cy="7315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2066544"/>
            <a:ext cx="3749039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31923"/>
                </a:solidFill>
                <a:latin typeface="Arial"/>
              </a:defRPr>
            </a:pPr>
            <a:r>
              <a:t>BOOSTING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2688336"/>
            <a:ext cx="379476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100" b="0">
                <a:solidFill>
                  <a:srgbClr val="131923"/>
                </a:solidFill>
                <a:latin typeface="Arial"/>
              </a:defRPr>
            </a:pPr>
            <a:r>
              <a:t>Cải thiện lỗi tuần tự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31336"/>
            <a:ext cx="5257800" cy="18288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4334256"/>
            <a:ext cx="731520" cy="731520"/>
          </a:xfrm>
          <a:prstGeom prst="ellipse">
            <a:avLst/>
          </a:prstGeom>
          <a:solidFill>
            <a:srgbClr val="775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334256"/>
            <a:ext cx="731520" cy="7315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197096"/>
            <a:ext cx="3749039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31923"/>
                </a:solidFill>
                <a:latin typeface="Arial"/>
              </a:defRPr>
            </a:pPr>
            <a:r>
              <a:t>STACKING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818888"/>
            <a:ext cx="379476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100" b="0">
                <a:solidFill>
                  <a:srgbClr val="131923"/>
                </a:solidFill>
                <a:latin typeface="Arial"/>
              </a:defRPr>
            </a:pPr>
            <a:r>
              <a:t>Kết hợp bằng meta-model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73952" y="3831336"/>
            <a:ext cx="5257800" cy="18288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793992" y="4334256"/>
            <a:ext cx="731520" cy="731520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93992" y="4334256"/>
            <a:ext cx="731520" cy="7315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8392" y="4197096"/>
            <a:ext cx="3749039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131923"/>
                </a:solidFill>
                <a:latin typeface="Arial"/>
              </a:defRPr>
            </a:pPr>
            <a:r>
              <a:t>VOTING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8392" y="4818888"/>
            <a:ext cx="379476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100" b="0">
                <a:solidFill>
                  <a:srgbClr val="131923"/>
                </a:solidFill>
                <a:latin typeface="Arial"/>
              </a:defRPr>
            </a:pPr>
            <a:r>
              <a:t>Biểu quyết dự đoán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37960"/>
            <a:ext cx="384048" cy="2103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9BA3AD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438912"/>
            <a:ext cx="1088136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131923"/>
                </a:solidFill>
                <a:latin typeface="Arial"/>
              </a:defRPr>
            </a:pPr>
            <a:r>
              <a:t>1. Ensemble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88136"/>
            <a:ext cx="10744200" cy="4297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5B6776"/>
                </a:solidFill>
                <a:latin typeface="Arial"/>
              </a:defRPr>
            </a:pPr>
            <a:r>
              <a:t>Ví dụ: phân loại email spam bằng Voting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3246120" cy="932688"/>
          </a:xfrm>
          <a:prstGeom prst="roundRect">
            <a:avLst/>
          </a:prstGeom>
          <a:solidFill>
            <a:srgbClr val="E7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47672"/>
            <a:ext cx="3154679" cy="87782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31923"/>
                </a:solidFill>
                <a:latin typeface="Arial"/>
              </a:defRPr>
            </a:pPr>
            <a:r>
              <a:t>Logistic Regression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04288" y="2862072"/>
            <a:ext cx="3776472" cy="1234440"/>
          </a:xfrm>
          <a:prstGeom prst="line">
            <a:avLst/>
          </a:prstGeom>
          <a:ln w="25400">
            <a:solidFill>
              <a:srgbClr val="1C64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663440" y="1920240"/>
            <a:ext cx="3246120" cy="932688"/>
          </a:xfrm>
          <a:prstGeom prst="roundRect">
            <a:avLst/>
          </a:prstGeom>
          <a:solidFill>
            <a:srgbClr val="E7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09159" y="1947672"/>
            <a:ext cx="3154679" cy="87782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31923"/>
                </a:solidFill>
                <a:latin typeface="Arial"/>
              </a:defRPr>
            </a:pPr>
            <a:r>
              <a:t>Decision Tree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6080760" y="2862072"/>
            <a:ext cx="201167" cy="1234440"/>
          </a:xfrm>
          <a:prstGeom prst="line">
            <a:avLst/>
          </a:prstGeom>
          <a:ln w="25400">
            <a:solidFill>
              <a:srgbClr val="229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641080" y="1920240"/>
            <a:ext cx="3246120" cy="932688"/>
          </a:xfrm>
          <a:prstGeom prst="roundRect">
            <a:avLst/>
          </a:prstGeom>
          <a:solidFill>
            <a:srgbClr val="E7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0" y="1947672"/>
            <a:ext cx="3154679" cy="87782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31923"/>
                </a:solidFill>
                <a:latin typeface="Arial"/>
              </a:defRPr>
            </a:pPr>
            <a:r>
              <a:t>Naive Bayes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080760" y="2862072"/>
            <a:ext cx="4178807" cy="1234440"/>
          </a:xfrm>
          <a:prstGeom prst="line">
            <a:avLst/>
          </a:prstGeom>
          <a:ln w="25400">
            <a:solidFill>
              <a:srgbClr val="E49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81728" y="4096512"/>
            <a:ext cx="2788920" cy="877824"/>
          </a:xfrm>
          <a:prstGeom prst="roundRect">
            <a:avLst/>
          </a:prstGeom>
          <a:solidFill>
            <a:srgbClr val="E1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27448" y="4123944"/>
            <a:ext cx="2697479" cy="82295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700" b="1">
                <a:solidFill>
                  <a:srgbClr val="131923"/>
                </a:solidFill>
                <a:latin typeface="Arial"/>
              </a:defRPr>
            </a:pPr>
            <a:r>
              <a:t>VOTING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4974336"/>
            <a:ext cx="0" cy="347472"/>
          </a:xfrm>
          <a:prstGeom prst="line">
            <a:avLst/>
          </a:prstGeom>
          <a:ln w="2540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15384" y="5340096"/>
            <a:ext cx="3749039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61104" y="5367528"/>
            <a:ext cx="3657599" cy="6766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31923"/>
                </a:solidFill>
                <a:latin typeface="Arial"/>
              </a:defRPr>
            </a:pPr>
            <a:r>
              <a:t>SPAM / KHÔNG SPAM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37960"/>
            <a:ext cx="384048" cy="2103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9BA3AD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2596896"/>
            <a:ext cx="10287000" cy="1399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4600" b="1">
                <a:solidFill>
                  <a:srgbClr val="131923"/>
                </a:solidFill>
                <a:latin typeface="Arial"/>
              </a:defRPr>
            </a:pPr>
            <a:r>
              <a:t>2. Semi-Supervised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37960"/>
            <a:ext cx="384048" cy="2103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9BA3AD"/>
                </a:solidFill>
                <a:latin typeface="Arial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438912"/>
            <a:ext cx="1088136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131923"/>
                </a:solidFill>
                <a:latin typeface="Arial"/>
              </a:defRPr>
            </a:pPr>
            <a:r>
              <a:t>2. Semi-Supervised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88136"/>
            <a:ext cx="10744200" cy="4297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5B6776"/>
                </a:solidFill>
                <a:latin typeface="Arial"/>
              </a:defRPr>
            </a:pPr>
            <a:r>
              <a:t>Kết hợp dữ liệu có nhãn và chưa có nhãn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72768"/>
            <a:ext cx="5001768" cy="4023360"/>
          </a:xfrm>
          <a:prstGeom prst="roundRect">
            <a:avLst/>
          </a:prstGeom>
          <a:solidFill>
            <a:srgbClr val="EF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64808" y="1572768"/>
            <a:ext cx="5001768" cy="4023360"/>
          </a:xfrm>
          <a:prstGeom prst="roundRect">
            <a:avLst/>
          </a:prstGeom>
          <a:solidFill>
            <a:srgbClr val="F0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828800"/>
            <a:ext cx="44805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131923"/>
                </a:solidFill>
                <a:latin typeface="Arial"/>
              </a:defRPr>
            </a:pPr>
            <a:r>
              <a:t>Có nhãn (ít)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828800"/>
            <a:ext cx="438912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131923"/>
                </a:solidFill>
                <a:latin typeface="Arial"/>
              </a:defRPr>
            </a:pPr>
            <a:r>
              <a:t>Chưa có nhãn (nhiều)</a:t>
            </a:r>
          </a:p>
        </p:txBody>
      </p:sp>
      <p:sp>
        <p:nvSpPr>
          <p:cNvPr id="8" name="Oval 7"/>
          <p:cNvSpPr/>
          <p:nvPr/>
        </p:nvSpPr>
        <p:spPr>
          <a:xfrm>
            <a:off x="1691640" y="2743200"/>
            <a:ext cx="429768" cy="429768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91640" y="2743200"/>
            <a:ext cx="429768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0" name="Oval 9"/>
          <p:cNvSpPr/>
          <p:nvPr/>
        </p:nvSpPr>
        <p:spPr>
          <a:xfrm>
            <a:off x="2423160" y="2743200"/>
            <a:ext cx="429768" cy="429768"/>
          </a:xfrm>
          <a:prstGeom prst="ellipse">
            <a:avLst/>
          </a:prstGeom>
          <a:solidFill>
            <a:srgbClr val="E49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23160" y="2743200"/>
            <a:ext cx="429768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2" name="Oval 11"/>
          <p:cNvSpPr/>
          <p:nvPr/>
        </p:nvSpPr>
        <p:spPr>
          <a:xfrm>
            <a:off x="3154680" y="2743200"/>
            <a:ext cx="429768" cy="429768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80" y="2743200"/>
            <a:ext cx="429768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3886200" y="2743200"/>
            <a:ext cx="429768" cy="429768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86200" y="2743200"/>
            <a:ext cx="429768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6" name="Oval 15"/>
          <p:cNvSpPr/>
          <p:nvPr/>
        </p:nvSpPr>
        <p:spPr>
          <a:xfrm>
            <a:off x="1691640" y="3465576"/>
            <a:ext cx="429768" cy="429768"/>
          </a:xfrm>
          <a:prstGeom prst="ellipse">
            <a:avLst/>
          </a:prstGeom>
          <a:solidFill>
            <a:srgbClr val="E49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91640" y="3465576"/>
            <a:ext cx="429768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8" name="Oval 17"/>
          <p:cNvSpPr/>
          <p:nvPr/>
        </p:nvSpPr>
        <p:spPr>
          <a:xfrm>
            <a:off x="2423160" y="3465576"/>
            <a:ext cx="429768" cy="429768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23160" y="3465576"/>
            <a:ext cx="429768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0" name="Oval 19"/>
          <p:cNvSpPr/>
          <p:nvPr/>
        </p:nvSpPr>
        <p:spPr>
          <a:xfrm>
            <a:off x="3154680" y="3465576"/>
            <a:ext cx="429768" cy="429768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54680" y="3465576"/>
            <a:ext cx="429768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22" name="Oval 21"/>
          <p:cNvSpPr/>
          <p:nvPr/>
        </p:nvSpPr>
        <p:spPr>
          <a:xfrm>
            <a:off x="3886200" y="3465576"/>
            <a:ext cx="429768" cy="429768"/>
          </a:xfrm>
          <a:prstGeom prst="ellipse">
            <a:avLst/>
          </a:prstGeom>
          <a:solidFill>
            <a:srgbClr val="E49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86200" y="3465576"/>
            <a:ext cx="429768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24" name="Oval 23"/>
          <p:cNvSpPr/>
          <p:nvPr/>
        </p:nvSpPr>
        <p:spPr>
          <a:xfrm>
            <a:off x="1691640" y="4187952"/>
            <a:ext cx="429768" cy="429768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91640" y="4187952"/>
            <a:ext cx="429768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6" name="Oval 25"/>
          <p:cNvSpPr/>
          <p:nvPr/>
        </p:nvSpPr>
        <p:spPr>
          <a:xfrm>
            <a:off x="2423160" y="4187952"/>
            <a:ext cx="429768" cy="429768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23160" y="4187952"/>
            <a:ext cx="429768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28" name="Oval 27"/>
          <p:cNvSpPr/>
          <p:nvPr/>
        </p:nvSpPr>
        <p:spPr>
          <a:xfrm>
            <a:off x="3154680" y="4187952"/>
            <a:ext cx="429768" cy="429768"/>
          </a:xfrm>
          <a:prstGeom prst="ellipse">
            <a:avLst/>
          </a:prstGeom>
          <a:solidFill>
            <a:srgbClr val="E49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54680" y="4187952"/>
            <a:ext cx="429768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30" name="Oval 29"/>
          <p:cNvSpPr/>
          <p:nvPr/>
        </p:nvSpPr>
        <p:spPr>
          <a:xfrm>
            <a:off x="3886200" y="4187952"/>
            <a:ext cx="429768" cy="429768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86200" y="4187952"/>
            <a:ext cx="429768" cy="4297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32" name="Oval 31"/>
          <p:cNvSpPr/>
          <p:nvPr/>
        </p:nvSpPr>
        <p:spPr>
          <a:xfrm>
            <a:off x="7059168" y="2670048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479792" y="2670048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900416" y="2670048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321040" y="2670048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741664" y="2670048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162288" y="2670048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582912" y="2670048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003536" y="2670048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424160" y="2670048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059168" y="3200400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479792" y="3200400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900416" y="3200400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321040" y="3200400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741664" y="3200400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162288" y="3200400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582912" y="3200400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0003536" y="3200400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0424160" y="3200400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7059168" y="3730752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7479792" y="3730752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7900416" y="3730752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321040" y="3730752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741664" y="3730752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162288" y="3730752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582912" y="3730752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0003536" y="3730752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0424160" y="3730752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7059168" y="4261104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7479792" y="4261104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7900416" y="4261104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8321040" y="4261104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741664" y="4261104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9162288" y="4261104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9582912" y="4261104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0003536" y="4261104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0424160" y="4261104"/>
            <a:ext cx="274320" cy="274320"/>
          </a:xfrm>
          <a:prstGeom prst="ellipse">
            <a:avLst/>
          </a:prstGeom>
          <a:solidFill>
            <a:srgbClr val="AEB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4400" y="6035040"/>
            <a:ext cx="103327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900" b="0">
                <a:solidFill>
                  <a:srgbClr val="5B6776"/>
                </a:solidFill>
                <a:latin typeface="Arial"/>
              </a:defRPr>
            </a:pPr>
            <a:r>
              <a:t>Giảm chi phí gán nhãn dữ liệu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75720" y="6537960"/>
            <a:ext cx="384048" cy="2103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9BA3AD"/>
                </a:solidFill>
                <a:latin typeface="Arial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438912"/>
            <a:ext cx="1088136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131923"/>
                </a:solidFill>
                <a:latin typeface="Arial"/>
              </a:defRPr>
            </a:pPr>
            <a:r>
              <a:t>2. Semi-Supervised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88136"/>
            <a:ext cx="10744200" cy="4297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5B6776"/>
                </a:solidFill>
                <a:latin typeface="Arial"/>
              </a:defRPr>
            </a:pPr>
            <a:r>
              <a:t>Pseudo-Labeling: tự tạo nhãn cho dữ liệu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" y="2551176"/>
            <a:ext cx="2423160" cy="1444752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2376" y="2578608"/>
            <a:ext cx="2331720" cy="13898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131923"/>
                </a:solidFill>
                <a:latin typeface="Arial"/>
              </a:defRPr>
            </a:pPr>
            <a:r>
              <a:t>Dữ liệu</a:t>
            </a:r>
          </a:p>
          <a:p>
            <a:pPr algn="ctr">
              <a:spcAft>
                <a:spcPts val="500"/>
              </a:spcAft>
              <a:defRPr sz="2200" b="1">
                <a:solidFill>
                  <a:srgbClr val="131923"/>
                </a:solidFill>
                <a:latin typeface="Arial"/>
              </a:defRPr>
            </a:pPr>
            <a:r>
              <a:t>có nhãn</a:t>
            </a:r>
          </a:p>
        </p:txBody>
      </p:sp>
      <p:sp>
        <p:nvSpPr>
          <p:cNvPr id="6" name="Oval 5"/>
          <p:cNvSpPr/>
          <p:nvPr/>
        </p:nvSpPr>
        <p:spPr>
          <a:xfrm>
            <a:off x="1636776" y="1828800"/>
            <a:ext cx="457200" cy="457200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3136391" y="3264408"/>
            <a:ext cx="374905" cy="0"/>
          </a:xfrm>
          <a:prstGeom prst="line">
            <a:avLst/>
          </a:prstGeom>
          <a:ln w="3810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75304" y="2551176"/>
            <a:ext cx="2423160" cy="1444752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21024" y="2578608"/>
            <a:ext cx="2331720" cy="13898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131923"/>
                </a:solidFill>
                <a:latin typeface="Arial"/>
              </a:defRPr>
            </a:pPr>
            <a:r>
              <a:t>Huấn luyện</a:t>
            </a:r>
          </a:p>
          <a:p>
            <a:pPr algn="ctr">
              <a:spcAft>
                <a:spcPts val="500"/>
              </a:spcAft>
              <a:defRPr sz="2200" b="1">
                <a:solidFill>
                  <a:srgbClr val="131923"/>
                </a:solidFill>
                <a:latin typeface="Arial"/>
              </a:defRPr>
            </a:pPr>
            <a:r>
              <a:t>mô hình</a:t>
            </a:r>
          </a:p>
        </p:txBody>
      </p:sp>
      <p:sp>
        <p:nvSpPr>
          <p:cNvPr id="10" name="Oval 9"/>
          <p:cNvSpPr/>
          <p:nvPr/>
        </p:nvSpPr>
        <p:spPr>
          <a:xfrm>
            <a:off x="4535424" y="1828800"/>
            <a:ext cx="457200" cy="457200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6035040" y="3264408"/>
            <a:ext cx="374904" cy="0"/>
          </a:xfrm>
          <a:prstGeom prst="line">
            <a:avLst/>
          </a:prstGeom>
          <a:ln w="3810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73952" y="2551176"/>
            <a:ext cx="2423160" cy="1444752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2578608"/>
            <a:ext cx="2331720" cy="13898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131923"/>
                </a:solidFill>
                <a:latin typeface="Arial"/>
              </a:defRPr>
            </a:pPr>
            <a:r>
              <a:t>Gán nhãn</a:t>
            </a:r>
          </a:p>
          <a:p>
            <a:pPr algn="ctr">
              <a:spcAft>
                <a:spcPts val="500"/>
              </a:spcAft>
              <a:defRPr sz="2200" b="1">
                <a:solidFill>
                  <a:srgbClr val="131923"/>
                </a:solidFill>
                <a:latin typeface="Arial"/>
              </a:defRPr>
            </a:pPr>
            <a:r>
              <a:t>dự đoán</a:t>
            </a:r>
          </a:p>
        </p:txBody>
      </p:sp>
      <p:sp>
        <p:nvSpPr>
          <p:cNvPr id="14" name="Oval 13"/>
          <p:cNvSpPr/>
          <p:nvPr/>
        </p:nvSpPr>
        <p:spPr>
          <a:xfrm>
            <a:off x="7434072" y="1828800"/>
            <a:ext cx="457200" cy="457200"/>
          </a:xfrm>
          <a:prstGeom prst="ellipse">
            <a:avLst/>
          </a:prstGeom>
          <a:solidFill>
            <a:srgbClr val="E49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8933688" y="3264408"/>
            <a:ext cx="374904" cy="0"/>
          </a:xfrm>
          <a:prstGeom prst="line">
            <a:avLst/>
          </a:prstGeom>
          <a:ln w="3810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372600" y="2551176"/>
            <a:ext cx="2423160" cy="1444752"/>
          </a:xfrm>
          <a:prstGeom prst="roundRect">
            <a:avLst/>
          </a:prstGeom>
          <a:solidFill>
            <a:srgbClr val="EB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0" y="2578608"/>
            <a:ext cx="2331720" cy="13898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131923"/>
                </a:solidFill>
                <a:latin typeface="Arial"/>
              </a:defRPr>
            </a:pPr>
            <a:r>
              <a:t>Huấn luyện</a:t>
            </a:r>
          </a:p>
          <a:p>
            <a:pPr algn="ctr">
              <a:spcAft>
                <a:spcPts val="500"/>
              </a:spcAft>
              <a:defRPr sz="2200" b="1">
                <a:solidFill>
                  <a:srgbClr val="131923"/>
                </a:solidFill>
                <a:latin typeface="Arial"/>
              </a:defRPr>
            </a:pPr>
            <a:r>
              <a:t>lại</a:t>
            </a:r>
          </a:p>
        </p:txBody>
      </p:sp>
      <p:sp>
        <p:nvSpPr>
          <p:cNvPr id="18" name="Oval 17"/>
          <p:cNvSpPr/>
          <p:nvPr/>
        </p:nvSpPr>
        <p:spPr>
          <a:xfrm>
            <a:off x="10332720" y="1828800"/>
            <a:ext cx="457200" cy="457200"/>
          </a:xfrm>
          <a:prstGeom prst="ellipse">
            <a:avLst/>
          </a:prstGeom>
          <a:solidFill>
            <a:srgbClr val="775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084064"/>
            <a:ext cx="103327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900" b="0">
                <a:solidFill>
                  <a:srgbClr val="5B6776"/>
                </a:solidFill>
                <a:latin typeface="Arial"/>
              </a:defRPr>
            </a:pPr>
            <a:r>
              <a:t>Chỉ dùng nhãn dự đoán đủ tin cậy để hạn chế sai lệch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37960"/>
            <a:ext cx="384048" cy="2103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9BA3AD"/>
                </a:solidFill>
                <a:latin typeface="Arial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438912"/>
            <a:ext cx="1088136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131923"/>
                </a:solidFill>
                <a:latin typeface="Arial"/>
              </a:defRPr>
            </a:pPr>
            <a:r>
              <a:t>2. Semi-Supervised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88136"/>
            <a:ext cx="10744200" cy="4297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5B6776"/>
                </a:solidFill>
                <a:latin typeface="Arial"/>
              </a:defRPr>
            </a:pPr>
            <a:r>
              <a:t>Một số phương pháp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09928"/>
            <a:ext cx="5285232" cy="1737360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947672"/>
            <a:ext cx="4736592" cy="4937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31923"/>
                </a:solidFill>
                <a:latin typeface="Arial"/>
              </a:defRPr>
            </a:pPr>
            <a:r>
              <a:t>Pseudo-Labeling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24328"/>
            <a:ext cx="4736592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000" b="0">
                <a:solidFill>
                  <a:srgbClr val="5B6776"/>
                </a:solidFill>
                <a:latin typeface="Arial"/>
              </a:defRPr>
            </a:pPr>
            <a:r>
              <a:t>Tạo nhãn giả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6248" y="1709928"/>
            <a:ext cx="5285232" cy="1737360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30568" y="1947672"/>
            <a:ext cx="4736592" cy="4937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31923"/>
                </a:solidFill>
                <a:latin typeface="Arial"/>
              </a:defRPr>
            </a:pPr>
            <a:r>
              <a:t>Self-Training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0568" y="2624328"/>
            <a:ext cx="4736592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000" b="0">
                <a:solidFill>
                  <a:srgbClr val="5B6776"/>
                </a:solidFill>
                <a:latin typeface="Arial"/>
              </a:defRPr>
            </a:pPr>
            <a:r>
              <a:t>Tự huấn luyện lặp lại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85616"/>
            <a:ext cx="5285232" cy="1737360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60"/>
            <a:ext cx="4736592" cy="4937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31923"/>
                </a:solidFill>
                <a:latin typeface="Arial"/>
              </a:defRPr>
            </a:pPr>
            <a:r>
              <a:t>Label Propagation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0016"/>
            <a:ext cx="4736592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000" b="0">
                <a:solidFill>
                  <a:srgbClr val="5B6776"/>
                </a:solidFill>
                <a:latin typeface="Arial"/>
              </a:defRPr>
            </a:pPr>
            <a:r>
              <a:t>Lan truyền nhãn trên đồ thị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56248" y="3785616"/>
            <a:ext cx="5285232" cy="1737360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30568" y="4023360"/>
            <a:ext cx="4736592" cy="4937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31923"/>
                </a:solidFill>
                <a:latin typeface="Arial"/>
              </a:defRPr>
            </a:pPr>
            <a:r>
              <a:t>Consistency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4700016"/>
            <a:ext cx="4736592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000" b="0">
                <a:solidFill>
                  <a:srgbClr val="5B6776"/>
                </a:solidFill>
                <a:latin typeface="Arial"/>
              </a:defRPr>
            </a:pPr>
            <a:r>
              <a:t>Dự đoán nhất quán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37960"/>
            <a:ext cx="384048" cy="2103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9BA3AD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2596896"/>
            <a:ext cx="10287000" cy="1399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4600" b="1">
                <a:solidFill>
                  <a:srgbClr val="131923"/>
                </a:solidFill>
                <a:latin typeface="Arial"/>
              </a:defRPr>
            </a:pPr>
            <a:r>
              <a:t>3. Probabilistic Graphical Models (PGM)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37960"/>
            <a:ext cx="384048" cy="2103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9BA3AD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438912"/>
            <a:ext cx="1088136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131923"/>
                </a:solidFill>
                <a:latin typeface="Arial"/>
              </a:defRPr>
            </a:pPr>
            <a:r>
              <a:t>3. Probabilistic Graphical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88136"/>
            <a:ext cx="10744200" cy="4297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5B6776"/>
                </a:solidFill>
                <a:latin typeface="Arial"/>
              </a:defRPr>
            </a:pPr>
            <a:r>
              <a:t>Mô hình hóa quan hệ giữa các biến ngẫu nhiên</a:t>
            </a:r>
          </a:p>
        </p:txBody>
      </p:sp>
      <p:sp>
        <p:nvSpPr>
          <p:cNvPr id="4" name="Oval 3"/>
          <p:cNvSpPr/>
          <p:nvPr/>
        </p:nvSpPr>
        <p:spPr>
          <a:xfrm>
            <a:off x="2560320" y="1783080"/>
            <a:ext cx="822960" cy="822960"/>
          </a:xfrm>
          <a:prstGeom prst="ellipse">
            <a:avLst/>
          </a:prstGeom>
          <a:solidFill>
            <a:srgbClr val="DB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69280" y="2542032"/>
            <a:ext cx="822960" cy="822960"/>
          </a:xfrm>
          <a:prstGeom prst="ellipse">
            <a:avLst/>
          </a:prstGeom>
          <a:solidFill>
            <a:srgbClr val="DB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1783080"/>
            <a:ext cx="822960" cy="822960"/>
          </a:xfrm>
          <a:prstGeom prst="ellipse">
            <a:avLst/>
          </a:prstGeom>
          <a:solidFill>
            <a:srgbClr val="DB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669280" y="4389120"/>
            <a:ext cx="822960" cy="822960"/>
          </a:xfrm>
          <a:prstGeom prst="ellipse">
            <a:avLst/>
          </a:prstGeom>
          <a:solidFill>
            <a:srgbClr val="DB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2971800" y="2194560"/>
            <a:ext cx="3108960" cy="758952"/>
          </a:xfrm>
          <a:prstGeom prst="line">
            <a:avLst/>
          </a:prstGeom>
          <a:ln w="38100">
            <a:solidFill>
              <a:srgbClr val="1C64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080760" y="2194560"/>
            <a:ext cx="3017520" cy="758952"/>
          </a:xfrm>
          <a:prstGeom prst="line">
            <a:avLst/>
          </a:prstGeom>
          <a:ln w="38100">
            <a:solidFill>
              <a:srgbClr val="1C64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2953512"/>
            <a:ext cx="0" cy="1847088"/>
          </a:xfrm>
          <a:prstGeom prst="line">
            <a:avLst/>
          </a:prstGeom>
          <a:ln w="38100">
            <a:solidFill>
              <a:srgbClr val="1C64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60320" y="1801368"/>
            <a:ext cx="822960" cy="7863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1C64A7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560320"/>
            <a:ext cx="822960" cy="7863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1C64A7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801368"/>
            <a:ext cx="822960" cy="7863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1C64A7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407408"/>
            <a:ext cx="822960" cy="7863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800" b="1">
                <a:solidFill>
                  <a:srgbClr val="1C64A7"/>
                </a:solidFill>
                <a:latin typeface="Arial"/>
              </a:defRPr>
            </a:pPr>
            <a: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035040"/>
            <a:ext cx="103327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900" b="0">
                <a:solidFill>
                  <a:srgbClr val="5B6776"/>
                </a:solidFill>
                <a:latin typeface="Arial"/>
              </a:defRPr>
            </a:pPr>
            <a:r>
              <a:t>Đồ thị biểu diễn phụ thuộc và hỗ trợ suy luận xác suất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537960"/>
            <a:ext cx="384048" cy="2103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9BA3AD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438912"/>
            <a:ext cx="1088136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131923"/>
                </a:solidFill>
                <a:latin typeface="Arial"/>
              </a:defRPr>
            </a:pPr>
            <a:r>
              <a:t>3. Probabilistic Graphical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88136"/>
            <a:ext cx="10744200" cy="4297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5B6776"/>
                </a:solidFill>
                <a:latin typeface="Arial"/>
              </a:defRPr>
            </a:pPr>
            <a:r>
              <a:t>Hai loại mô hình chính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48656" cy="4251960"/>
          </a:xfrm>
          <a:prstGeom prst="round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1856231"/>
            <a:ext cx="4946904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131923"/>
                </a:solidFill>
                <a:latin typeface="Arial"/>
              </a:defRPr>
            </a:pPr>
            <a:r>
              <a:t>BAYESIAN NETWORKS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84832" y="3136392"/>
            <a:ext cx="2414016" cy="0"/>
          </a:xfrm>
          <a:prstGeom prst="line">
            <a:avLst/>
          </a:prstGeom>
          <a:ln w="38100">
            <a:solidFill>
              <a:srgbClr val="1C64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3273552" y="3136392"/>
            <a:ext cx="1225296" cy="1572768"/>
          </a:xfrm>
          <a:prstGeom prst="line">
            <a:avLst/>
          </a:prstGeom>
          <a:ln w="38100">
            <a:solidFill>
              <a:srgbClr val="1C64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84832" y="3136392"/>
            <a:ext cx="1188720" cy="1572768"/>
          </a:xfrm>
          <a:prstGeom prst="line">
            <a:avLst/>
          </a:prstGeom>
          <a:ln w="38100">
            <a:solidFill>
              <a:srgbClr val="1C64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773936" y="2825496"/>
            <a:ext cx="621792" cy="621792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73936" y="2825496"/>
            <a:ext cx="621792" cy="6217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1" name="Oval 10"/>
          <p:cNvSpPr/>
          <p:nvPr/>
        </p:nvSpPr>
        <p:spPr>
          <a:xfrm>
            <a:off x="4187952" y="2825496"/>
            <a:ext cx="621792" cy="621792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87952" y="2825496"/>
            <a:ext cx="621792" cy="6217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Oval 12"/>
          <p:cNvSpPr/>
          <p:nvPr/>
        </p:nvSpPr>
        <p:spPr>
          <a:xfrm>
            <a:off x="2962656" y="4398264"/>
            <a:ext cx="621792" cy="621792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62656" y="4398264"/>
            <a:ext cx="621792" cy="6217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5330952"/>
            <a:ext cx="315468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31923"/>
                </a:solidFill>
                <a:latin typeface="Arial"/>
              </a:defRPr>
            </a:pPr>
            <a:r>
              <a:t>Có hướng (DAG)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28816" y="1645920"/>
            <a:ext cx="5248656" cy="4251960"/>
          </a:xfrm>
          <a:prstGeom prst="round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1856231"/>
            <a:ext cx="4946904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131923"/>
                </a:solidFill>
                <a:latin typeface="Arial"/>
              </a:defRPr>
            </a:pPr>
            <a:r>
              <a:t>MARKOV NETWORKS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82127" y="3136392"/>
            <a:ext cx="2414017" cy="0"/>
          </a:xfrm>
          <a:prstGeom prst="line">
            <a:avLst/>
          </a:prstGeom>
          <a:ln w="38100">
            <a:solidFill>
              <a:srgbClr val="229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9070848" y="3136392"/>
            <a:ext cx="1225296" cy="1572768"/>
          </a:xfrm>
          <a:prstGeom prst="line">
            <a:avLst/>
          </a:prstGeom>
          <a:ln w="38100">
            <a:solidFill>
              <a:srgbClr val="229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82127" y="3136392"/>
            <a:ext cx="1188721" cy="1572768"/>
          </a:xfrm>
          <a:prstGeom prst="line">
            <a:avLst/>
          </a:prstGeom>
          <a:ln w="38100">
            <a:solidFill>
              <a:srgbClr val="229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571231" y="2825496"/>
            <a:ext cx="621792" cy="621792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71231" y="2825496"/>
            <a:ext cx="621792" cy="6217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23" name="Oval 22"/>
          <p:cNvSpPr/>
          <p:nvPr/>
        </p:nvSpPr>
        <p:spPr>
          <a:xfrm>
            <a:off x="9985248" y="2825496"/>
            <a:ext cx="621792" cy="621792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85248" y="2825496"/>
            <a:ext cx="621792" cy="6217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25" name="Oval 24"/>
          <p:cNvSpPr/>
          <p:nvPr/>
        </p:nvSpPr>
        <p:spPr>
          <a:xfrm>
            <a:off x="8759952" y="4398264"/>
            <a:ext cx="621792" cy="621792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59952" y="4398264"/>
            <a:ext cx="621792" cy="6217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0375" y="5330952"/>
            <a:ext cx="315468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131923"/>
                </a:solidFill>
                <a:latin typeface="Arial"/>
              </a:defRPr>
            </a:pPr>
            <a:r>
              <a:t>Vô hướng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37960"/>
            <a:ext cx="384048" cy="2103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9BA3AD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2596896"/>
            <a:ext cx="10287000" cy="1399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4600" b="1">
                <a:solidFill>
                  <a:srgbClr val="131923"/>
                </a:solidFill>
                <a:latin typeface="Arial"/>
              </a:defRPr>
            </a:pPr>
            <a:r>
              <a:t>4. Recommendation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37960"/>
            <a:ext cx="384048" cy="2103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9BA3AD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438912"/>
            <a:ext cx="1088136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131923"/>
                </a:solidFill>
                <a:latin typeface="Arial"/>
              </a:defRPr>
            </a:pPr>
            <a:r>
              <a:t>4. Recommendation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88136"/>
            <a:ext cx="10744200" cy="4297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5B6776"/>
                </a:solidFill>
                <a:latin typeface="Arial"/>
              </a:defRPr>
            </a:pPr>
            <a:r>
              <a:t>Cá nhân hóa nội dung cho người dùng</a:t>
            </a:r>
          </a:p>
        </p:txBody>
      </p:sp>
      <p:sp>
        <p:nvSpPr>
          <p:cNvPr id="4" name="Oval 3"/>
          <p:cNvSpPr/>
          <p:nvPr/>
        </p:nvSpPr>
        <p:spPr>
          <a:xfrm>
            <a:off x="960120" y="2551176"/>
            <a:ext cx="1252728" cy="1252728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551176"/>
            <a:ext cx="1252728" cy="12527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USER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231136" y="2011680"/>
            <a:ext cx="4334256" cy="1161288"/>
          </a:xfrm>
          <a:prstGeom prst="line">
            <a:avLst/>
          </a:prstGeom>
          <a:ln w="2540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0" y="1627632"/>
            <a:ext cx="3703320" cy="822960"/>
          </a:xfrm>
          <a:prstGeom prst="roundRect">
            <a:avLst/>
          </a:prstGeom>
          <a:solidFill>
            <a:srgbClr val="EE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655064"/>
            <a:ext cx="3611879" cy="7680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131923"/>
                </a:solidFill>
                <a:latin typeface="Arial"/>
              </a:defRPr>
            </a:pPr>
            <a:r>
              <a:t>PHIM</a:t>
            </a:r>
          </a:p>
        </p:txBody>
      </p:sp>
      <p:sp>
        <p:nvSpPr>
          <p:cNvPr id="9" name="Oval 8"/>
          <p:cNvSpPr/>
          <p:nvPr/>
        </p:nvSpPr>
        <p:spPr>
          <a:xfrm>
            <a:off x="10543032" y="1773936"/>
            <a:ext cx="475488" cy="475488"/>
          </a:xfrm>
          <a:prstGeom prst="ellipse">
            <a:avLst/>
          </a:prstGeom>
          <a:solidFill>
            <a:srgbClr val="775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2231136" y="3172968"/>
            <a:ext cx="4334256" cy="265176"/>
          </a:xfrm>
          <a:prstGeom prst="line">
            <a:avLst/>
          </a:prstGeom>
          <a:ln w="2540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583680" y="3054096"/>
            <a:ext cx="3703320" cy="822960"/>
          </a:xfrm>
          <a:prstGeom prst="roundRect">
            <a:avLst/>
          </a:prstGeom>
          <a:solidFill>
            <a:srgbClr val="EE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3081527"/>
            <a:ext cx="3611879" cy="7680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131923"/>
                </a:solidFill>
                <a:latin typeface="Arial"/>
              </a:defRPr>
            </a:pPr>
            <a:r>
              <a:t>NHẠC</a:t>
            </a:r>
          </a:p>
        </p:txBody>
      </p:sp>
      <p:sp>
        <p:nvSpPr>
          <p:cNvPr id="13" name="Oval 12"/>
          <p:cNvSpPr/>
          <p:nvPr/>
        </p:nvSpPr>
        <p:spPr>
          <a:xfrm>
            <a:off x="10543032" y="3200400"/>
            <a:ext cx="475488" cy="475488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2231136" y="3172968"/>
            <a:ext cx="4334256" cy="1691640"/>
          </a:xfrm>
          <a:prstGeom prst="line">
            <a:avLst/>
          </a:prstGeom>
          <a:ln w="2540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83680" y="4480560"/>
            <a:ext cx="3703320" cy="822960"/>
          </a:xfrm>
          <a:prstGeom prst="roundRect">
            <a:avLst/>
          </a:prstGeom>
          <a:solidFill>
            <a:srgbClr val="EE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4507992"/>
            <a:ext cx="3611879" cy="7680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131923"/>
                </a:solidFill>
                <a:latin typeface="Arial"/>
              </a:defRPr>
            </a:pPr>
            <a:r>
              <a:t>SẢN PHẨM</a:t>
            </a:r>
          </a:p>
        </p:txBody>
      </p:sp>
      <p:sp>
        <p:nvSpPr>
          <p:cNvPr id="17" name="Oval 16"/>
          <p:cNvSpPr/>
          <p:nvPr/>
        </p:nvSpPr>
        <p:spPr>
          <a:xfrm>
            <a:off x="10543032" y="4626864"/>
            <a:ext cx="475488" cy="475488"/>
          </a:xfrm>
          <a:prstGeom prst="ellipse">
            <a:avLst/>
          </a:prstGeom>
          <a:solidFill>
            <a:srgbClr val="E49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6035040"/>
            <a:ext cx="103327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900" b="0">
                <a:solidFill>
                  <a:srgbClr val="5B6776"/>
                </a:solidFill>
                <a:latin typeface="Arial"/>
              </a:defRPr>
            </a:pPr>
            <a:r>
              <a:t>Dựa trên lịch sử tương tác và sở thích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37960"/>
            <a:ext cx="384048" cy="2103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9BA3AD"/>
                </a:solidFill>
                <a:latin typeface="Arial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438912"/>
            <a:ext cx="1088136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131923"/>
                </a:solidFill>
                <a:latin typeface="Arial"/>
              </a:defRPr>
            </a:pPr>
            <a:r>
              <a:t>4. Recommendation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88136"/>
            <a:ext cx="10744200" cy="4297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5B6776"/>
                </a:solidFill>
                <a:latin typeface="Arial"/>
              </a:defRPr>
            </a:pPr>
            <a:r>
              <a:t>Hai cách gợi ý cơ bản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600200"/>
            <a:ext cx="5230368" cy="4315968"/>
          </a:xfrm>
          <a:prstGeom prst="roundRect">
            <a:avLst/>
          </a:prstGeom>
          <a:solidFill>
            <a:srgbClr val="F1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" y="1874519"/>
            <a:ext cx="4864608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131923"/>
                </a:solidFill>
                <a:latin typeface="Arial"/>
              </a:defRPr>
            </a:pPr>
            <a:r>
              <a:t>CONTENT-BASED</a:t>
            </a:r>
          </a:p>
        </p:txBody>
      </p:sp>
      <p:sp>
        <p:nvSpPr>
          <p:cNvPr id="6" name="Oval 5"/>
          <p:cNvSpPr/>
          <p:nvPr/>
        </p:nvSpPr>
        <p:spPr>
          <a:xfrm>
            <a:off x="1783080" y="2935224"/>
            <a:ext cx="914400" cy="914400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096511" y="2935224"/>
            <a:ext cx="914400" cy="914400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2697480" y="3383280"/>
            <a:ext cx="1389888" cy="0"/>
          </a:xfrm>
          <a:prstGeom prst="line">
            <a:avLst/>
          </a:prstGeom>
          <a:ln w="38100">
            <a:solidFill>
              <a:srgbClr val="1C64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78992" y="4288536"/>
            <a:ext cx="457200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131923"/>
                </a:solidFill>
                <a:latin typeface="Arial"/>
              </a:defRPr>
            </a:pPr>
            <a:r>
              <a:t>Sản phẩm tương tự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4946904"/>
            <a:ext cx="46634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900" b="0">
                <a:solidFill>
                  <a:srgbClr val="5B6776"/>
                </a:solidFill>
                <a:latin typeface="Arial"/>
              </a:defRPr>
            </a:pPr>
            <a:r>
              <a:t>Những nội dung đã thích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47104" y="1600200"/>
            <a:ext cx="5230368" cy="4315968"/>
          </a:xfrm>
          <a:prstGeom prst="roundRect">
            <a:avLst/>
          </a:prstGeom>
          <a:solidFill>
            <a:srgbClr val="F1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9984" y="1874519"/>
            <a:ext cx="4864608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131923"/>
                </a:solidFill>
                <a:latin typeface="Arial"/>
              </a:defRPr>
            </a:pPr>
            <a:r>
              <a:t>COLLABORATIVE</a:t>
            </a:r>
          </a:p>
        </p:txBody>
      </p:sp>
      <p:sp>
        <p:nvSpPr>
          <p:cNvPr id="13" name="Oval 12"/>
          <p:cNvSpPr/>
          <p:nvPr/>
        </p:nvSpPr>
        <p:spPr>
          <a:xfrm>
            <a:off x="7571232" y="2935224"/>
            <a:ext cx="914400" cy="914400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884664" y="2935224"/>
            <a:ext cx="914400" cy="914400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8485632" y="3383280"/>
            <a:ext cx="1389888" cy="0"/>
          </a:xfrm>
          <a:prstGeom prst="line">
            <a:avLst/>
          </a:prstGeom>
          <a:ln w="38100">
            <a:solidFill>
              <a:srgbClr val="2294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67144" y="4288536"/>
            <a:ext cx="457200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131923"/>
                </a:solidFill>
                <a:latin typeface="Arial"/>
              </a:defRPr>
            </a:pPr>
            <a:r>
              <a:t>Người dùng tương tự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4946904"/>
            <a:ext cx="466344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900" b="0">
                <a:solidFill>
                  <a:srgbClr val="5B6776"/>
                </a:solidFill>
                <a:latin typeface="Arial"/>
              </a:defRPr>
            </a:pPr>
            <a:r>
              <a:t>Hành vi của cộng đồng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37960"/>
            <a:ext cx="384048" cy="2103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9BA3AD"/>
                </a:solidFill>
                <a:latin typeface="Arial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2596896"/>
            <a:ext cx="10287000" cy="1399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4600" b="1">
                <a:solidFill>
                  <a:srgbClr val="131923"/>
                </a:solidFill>
                <a:latin typeface="Arial"/>
              </a:defRPr>
            </a:pPr>
            <a:r>
              <a:t>5. Giới thiệu MLOps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537960"/>
            <a:ext cx="384048" cy="2103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9BA3AD"/>
                </a:solidFill>
                <a:latin typeface="Arial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438912"/>
            <a:ext cx="1088136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131923"/>
                </a:solidFill>
                <a:latin typeface="Arial"/>
              </a:defRPr>
            </a:pPr>
            <a:r>
              <a:t>5. Giới thiệu MLOps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88136"/>
            <a:ext cx="10744200" cy="4297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5B6776"/>
                </a:solidFill>
                <a:latin typeface="Arial"/>
              </a:defRPr>
            </a:pPr>
            <a:r>
              <a:t>Đưa mô hình ML vào vận hành thực tế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2240280"/>
            <a:ext cx="1280160" cy="1280160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240280"/>
            <a:ext cx="1280160" cy="12801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77056"/>
            <a:ext cx="246888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131923"/>
                </a:solidFill>
                <a:latin typeface="Arial"/>
              </a:defRPr>
            </a:pPr>
            <a:r>
              <a:t>Phát triển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79191" y="2880360"/>
            <a:ext cx="1499617" cy="0"/>
          </a:xfrm>
          <a:prstGeom prst="line">
            <a:avLst/>
          </a:prstGeom>
          <a:ln w="2540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297680" y="2240280"/>
            <a:ext cx="1280160" cy="1280160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2240280"/>
            <a:ext cx="1280160" cy="12801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877056"/>
            <a:ext cx="246888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131923"/>
                </a:solidFill>
                <a:latin typeface="Arial"/>
              </a:defRPr>
            </a:pPr>
            <a:r>
              <a:t>Triển khai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05272" y="2880360"/>
            <a:ext cx="1499616" cy="0"/>
          </a:xfrm>
          <a:prstGeom prst="line">
            <a:avLst/>
          </a:prstGeom>
          <a:ln w="2540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223760" y="2240280"/>
            <a:ext cx="1280160" cy="1280160"/>
          </a:xfrm>
          <a:prstGeom prst="ellipse">
            <a:avLst/>
          </a:prstGeom>
          <a:solidFill>
            <a:srgbClr val="E49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0" y="2240280"/>
            <a:ext cx="1280160" cy="12801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877056"/>
            <a:ext cx="246888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131923"/>
                </a:solidFill>
                <a:latin typeface="Arial"/>
              </a:defRPr>
            </a:pPr>
            <a:r>
              <a:t>Giám sát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31352" y="2880360"/>
            <a:ext cx="1499616" cy="0"/>
          </a:xfrm>
          <a:prstGeom prst="line">
            <a:avLst/>
          </a:prstGeom>
          <a:ln w="2540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149840" y="2240280"/>
            <a:ext cx="1280160" cy="1280160"/>
          </a:xfrm>
          <a:prstGeom prst="ellipse">
            <a:avLst/>
          </a:prstGeom>
          <a:solidFill>
            <a:srgbClr val="775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49840" y="2240280"/>
            <a:ext cx="1280160" cy="12801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3877056"/>
            <a:ext cx="246888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131923"/>
                </a:solidFill>
                <a:latin typeface="Arial"/>
              </a:defRPr>
            </a:pPr>
            <a:r>
              <a:t>Cập nhật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035040"/>
            <a:ext cx="103327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900" b="0">
                <a:solidFill>
                  <a:srgbClr val="5B6776"/>
                </a:solidFill>
                <a:latin typeface="Arial"/>
              </a:defRPr>
            </a:pPr>
            <a:r>
              <a:t>Tự động hóa • Theo dõi • Quản lý phiên bản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37960"/>
            <a:ext cx="384048" cy="2103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9BA3AD"/>
                </a:solidFill>
                <a:latin typeface="Arial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438912"/>
            <a:ext cx="1088136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131923"/>
                </a:solidFill>
                <a:latin typeface="Arial"/>
              </a:defRPr>
            </a:pPr>
            <a:r>
              <a:t>5. Giới thiệu MLOps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88136"/>
            <a:ext cx="10744200" cy="4297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5B6776"/>
                </a:solidFill>
                <a:latin typeface="Arial"/>
              </a:defRPr>
            </a:pPr>
            <a:r>
              <a:t>ML Pipeline tổng quát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700784"/>
            <a:ext cx="3282696" cy="109728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9768" y="1728216"/>
            <a:ext cx="3191256" cy="10424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131923"/>
                </a:solidFill>
                <a:latin typeface="Arial"/>
              </a:defRPr>
            </a:pPr>
            <a:r>
              <a:t>Dữ liệu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75888" y="2258568"/>
            <a:ext cx="521208" cy="0"/>
          </a:xfrm>
          <a:prstGeom prst="line">
            <a:avLst/>
          </a:prstGeom>
          <a:ln w="2540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297680" y="1700784"/>
            <a:ext cx="3282696" cy="109728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43400" y="1728216"/>
            <a:ext cx="3191256" cy="10424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131923"/>
                </a:solidFill>
                <a:latin typeface="Arial"/>
              </a:defRPr>
            </a:pPr>
            <a:r>
              <a:t>Tiền xử lý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589520" y="2258568"/>
            <a:ext cx="521208" cy="0"/>
          </a:xfrm>
          <a:prstGeom prst="line">
            <a:avLst/>
          </a:prstGeom>
          <a:ln w="2540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11312" y="1700784"/>
            <a:ext cx="3282696" cy="109728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57032" y="1728216"/>
            <a:ext cx="3191256" cy="10424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131923"/>
                </a:solidFill>
                <a:latin typeface="Arial"/>
              </a:defRPr>
            </a:pPr>
            <a:r>
              <a:t>Huấn luyện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675888"/>
            <a:ext cx="3282696" cy="1097280"/>
          </a:xfrm>
          <a:prstGeom prst="roundRect">
            <a:avLst/>
          </a:prstGeom>
          <a:solidFill>
            <a:srgbClr val="E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" y="3703320"/>
            <a:ext cx="3191256" cy="10424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131923"/>
                </a:solidFill>
                <a:latin typeface="Arial"/>
              </a:defRPr>
            </a:pPr>
            <a:r>
              <a:t>Đánh giá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75888" y="4233672"/>
            <a:ext cx="521208" cy="0"/>
          </a:xfrm>
          <a:prstGeom prst="line">
            <a:avLst/>
          </a:prstGeom>
          <a:ln w="2540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7680" y="3675888"/>
            <a:ext cx="3282696" cy="1097280"/>
          </a:xfrm>
          <a:prstGeom prst="roundRect">
            <a:avLst/>
          </a:prstGeom>
          <a:solidFill>
            <a:srgbClr val="E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43400" y="3703320"/>
            <a:ext cx="3191256" cy="10424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131923"/>
                </a:solidFill>
                <a:latin typeface="Arial"/>
              </a:defRPr>
            </a:pPr>
            <a:r>
              <a:t>Triển khai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9520" y="4233672"/>
            <a:ext cx="521208" cy="0"/>
          </a:xfrm>
          <a:prstGeom prst="line">
            <a:avLst/>
          </a:prstGeom>
          <a:ln w="2540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11312" y="3675888"/>
            <a:ext cx="3282696" cy="1097280"/>
          </a:xfrm>
          <a:prstGeom prst="roundRect">
            <a:avLst/>
          </a:prstGeom>
          <a:solidFill>
            <a:srgbClr val="E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57032" y="3703320"/>
            <a:ext cx="3191256" cy="104241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131923"/>
                </a:solidFill>
                <a:latin typeface="Arial"/>
              </a:defRPr>
            </a:pPr>
            <a:r>
              <a:t>Giám sát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035040"/>
            <a:ext cx="10332720" cy="4389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900" b="0">
                <a:solidFill>
                  <a:srgbClr val="5B6776"/>
                </a:solidFill>
                <a:latin typeface="Arial"/>
              </a:defRPr>
            </a:pPr>
            <a:r>
              <a:t>Theo dõi liên tục để huấn luyện lại khi cần thiết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37960"/>
            <a:ext cx="384048" cy="2103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9BA3AD"/>
                </a:solidFill>
                <a:latin typeface="Arial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438912"/>
            <a:ext cx="1088136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131923"/>
                </a:solidFill>
                <a:latin typeface="Arial"/>
              </a:defRPr>
            </a:pPr>
            <a:r>
              <a:t>5. Giới thiệu MLOps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88136"/>
            <a:ext cx="10744200" cy="4297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5B6776"/>
                </a:solidFill>
                <a:latin typeface="Arial"/>
              </a:defRPr>
            </a:pPr>
            <a:r>
              <a:t>Bốn giai đoạn vận hành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591056"/>
            <a:ext cx="5239512" cy="182880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" y="2029967"/>
            <a:ext cx="896112" cy="896112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22576" y="1911095"/>
            <a:ext cx="3447288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400" b="1">
                <a:solidFill>
                  <a:srgbClr val="131923"/>
                </a:solidFill>
                <a:latin typeface="Arial"/>
              </a:defRPr>
            </a:pPr>
            <a:r>
              <a:t>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2606040"/>
            <a:ext cx="34747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100" b="0">
                <a:solidFill>
                  <a:srgbClr val="5B6776"/>
                </a:solidFill>
                <a:latin typeface="Arial"/>
              </a:defRPr>
            </a:pPr>
            <a:r>
              <a:t>Huấn luyện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59" y="1591056"/>
            <a:ext cx="5239512" cy="182880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903720" y="2029967"/>
            <a:ext cx="896112" cy="896112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83296" y="1911095"/>
            <a:ext cx="3447288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400" b="1">
                <a:solidFill>
                  <a:srgbClr val="131923"/>
                </a:solidFill>
                <a:latin typeface="Arial"/>
              </a:defRPr>
            </a:pPr>
            <a:r>
              <a:t>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606040"/>
            <a:ext cx="34747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100" b="0">
                <a:solidFill>
                  <a:srgbClr val="5B6776"/>
                </a:solidFill>
                <a:latin typeface="Arial"/>
              </a:defRPr>
            </a:pPr>
            <a:r>
              <a:t>Triển khai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39896"/>
            <a:ext cx="5239512" cy="182880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43000" y="4178808"/>
            <a:ext cx="896112" cy="896112"/>
          </a:xfrm>
          <a:prstGeom prst="ellipse">
            <a:avLst/>
          </a:prstGeom>
          <a:solidFill>
            <a:srgbClr val="E49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22576" y="4059935"/>
            <a:ext cx="3447288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400" b="1">
                <a:solidFill>
                  <a:srgbClr val="131923"/>
                </a:solidFill>
                <a:latin typeface="Arial"/>
              </a:defRPr>
            </a:pPr>
            <a:r>
              <a:t>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754880"/>
            <a:ext cx="34747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100" b="0">
                <a:solidFill>
                  <a:srgbClr val="5B6776"/>
                </a:solidFill>
                <a:latin typeface="Arial"/>
              </a:defRPr>
            </a:pPr>
            <a:r>
              <a:t>Giám sát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59" y="3739896"/>
            <a:ext cx="5239512" cy="1828800"/>
          </a:xfrm>
          <a:prstGeom prst="round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903720" y="4178808"/>
            <a:ext cx="896112" cy="896112"/>
          </a:xfrm>
          <a:prstGeom prst="ellipse">
            <a:avLst/>
          </a:prstGeom>
          <a:solidFill>
            <a:srgbClr val="775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83296" y="4059935"/>
            <a:ext cx="3447288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400" b="1">
                <a:solidFill>
                  <a:srgbClr val="131923"/>
                </a:solidFill>
                <a:latin typeface="Arial"/>
              </a:defRPr>
            </a:pPr>
            <a:r>
              <a:t>RETRAINING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754880"/>
            <a:ext cx="34747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100" b="0">
                <a:solidFill>
                  <a:srgbClr val="5B6776"/>
                </a:solidFill>
                <a:latin typeface="Arial"/>
              </a:defRPr>
            </a:pPr>
            <a:r>
              <a:t>Cập nhật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37960"/>
            <a:ext cx="384048" cy="2103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9BA3AD"/>
                </a:solidFill>
                <a:latin typeface="Arial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438912"/>
            <a:ext cx="1088136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131923"/>
                </a:solidFill>
                <a:latin typeface="Arial"/>
              </a:defRPr>
            </a:pPr>
            <a:r>
              <a:t>5. Giới thiệu MLOps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88136"/>
            <a:ext cx="10744200" cy="4297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5B6776"/>
                </a:solidFill>
                <a:latin typeface="Arial"/>
              </a:defRPr>
            </a:pPr>
            <a:r>
              <a:t>Các công cụ phổ biến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00200"/>
            <a:ext cx="3566160" cy="1874519"/>
          </a:xfrm>
          <a:prstGeom prst="round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76656" y="2103120"/>
            <a:ext cx="722376" cy="722376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36192" y="1984248"/>
            <a:ext cx="22860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300" b="1">
                <a:solidFill>
                  <a:srgbClr val="131923"/>
                </a:solidFill>
                <a:latin typeface="Arial"/>
              </a:defRPr>
            </a:pPr>
            <a:r>
              <a:t>MLflow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5336" y="2624328"/>
            <a:ext cx="228600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5B6776"/>
                </a:solidFill>
                <a:latin typeface="Arial"/>
              </a:defRPr>
            </a:pPr>
            <a:r>
              <a:t>Thí nghiệm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600200"/>
            <a:ext cx="3566160" cy="1874519"/>
          </a:xfrm>
          <a:prstGeom prst="round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08576" y="2103120"/>
            <a:ext cx="722376" cy="722376"/>
          </a:xfrm>
          <a:prstGeom prst="ellipse">
            <a:avLst/>
          </a:prstGeom>
          <a:solidFill>
            <a:srgbClr val="229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68112" y="1984248"/>
            <a:ext cx="22860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300" b="1">
                <a:solidFill>
                  <a:srgbClr val="131923"/>
                </a:solidFill>
                <a:latin typeface="Arial"/>
              </a:defRPr>
            </a:pPr>
            <a:r>
              <a:t>DVC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77256" y="2624328"/>
            <a:ext cx="228600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5B6776"/>
                </a:solidFill>
                <a:latin typeface="Arial"/>
              </a:defRPr>
            </a:pPr>
            <a:r>
              <a:t>Phiên bản dữ liệu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7" y="1600200"/>
            <a:ext cx="3566160" cy="1874519"/>
          </a:xfrm>
          <a:prstGeom prst="round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540496" y="2103120"/>
            <a:ext cx="722376" cy="722376"/>
          </a:xfrm>
          <a:prstGeom prst="ellipse">
            <a:avLst/>
          </a:prstGeom>
          <a:solidFill>
            <a:srgbClr val="775A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00032" y="1984248"/>
            <a:ext cx="22860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300" b="1">
                <a:solidFill>
                  <a:srgbClr val="131923"/>
                </a:solidFill>
                <a:latin typeface="Arial"/>
              </a:defRPr>
            </a:pPr>
            <a:r>
              <a:t>Docker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09176" y="2624328"/>
            <a:ext cx="228600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5B6776"/>
                </a:solidFill>
                <a:latin typeface="Arial"/>
              </a:defRPr>
            </a:pPr>
            <a:r>
              <a:t>Đóng gói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3803904"/>
            <a:ext cx="3566160" cy="1874519"/>
          </a:xfrm>
          <a:prstGeom prst="round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76656" y="4306824"/>
            <a:ext cx="722376" cy="722376"/>
          </a:xfrm>
          <a:prstGeom prst="ellipse">
            <a:avLst/>
          </a:prstGeom>
          <a:solidFill>
            <a:srgbClr val="E49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36192" y="4187952"/>
            <a:ext cx="22860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300" b="1">
                <a:solidFill>
                  <a:srgbClr val="131923"/>
                </a:solidFill>
                <a:latin typeface="Arial"/>
              </a:defRPr>
            </a:pPr>
            <a:r>
              <a:t>Kubeflow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45336" y="4828032"/>
            <a:ext cx="228600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5B6776"/>
                </a:solidFill>
                <a:latin typeface="Arial"/>
              </a:defRPr>
            </a:pPr>
            <a:r>
              <a:t>Điều phối 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8" y="3803904"/>
            <a:ext cx="3566160" cy="1874519"/>
          </a:xfrm>
          <a:prstGeom prst="round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608576" y="4306824"/>
            <a:ext cx="722376" cy="722376"/>
          </a:xfrm>
          <a:prstGeom prst="ellipse">
            <a:avLst/>
          </a:prstGeom>
          <a:solidFill>
            <a:srgbClr val="259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68112" y="4187952"/>
            <a:ext cx="22860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300" b="1">
                <a:solidFill>
                  <a:srgbClr val="131923"/>
                </a:solidFill>
                <a:latin typeface="Arial"/>
              </a:defRPr>
            </a:pPr>
            <a:r>
              <a:t>Airflow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7256" y="4828032"/>
            <a:ext cx="228600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5B6776"/>
                </a:solidFill>
                <a:latin typeface="Arial"/>
              </a:defRPr>
            </a:pPr>
            <a:r>
              <a:t>Lập lịch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9327" y="3803904"/>
            <a:ext cx="3566160" cy="1874519"/>
          </a:xfrm>
          <a:prstGeom prst="roundRect">
            <a:avLst/>
          </a:prstGeom>
          <a:solidFill>
            <a:srgbClr val="F0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540496" y="4306824"/>
            <a:ext cx="722376" cy="722376"/>
          </a:xfrm>
          <a:prstGeom prst="ellipse">
            <a:avLst/>
          </a:prstGeom>
          <a:solidFill>
            <a:srgbClr val="1C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00032" y="4187952"/>
            <a:ext cx="22860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2300" b="1">
                <a:solidFill>
                  <a:srgbClr val="131923"/>
                </a:solidFill>
                <a:latin typeface="Arial"/>
              </a:defRPr>
            </a:pPr>
            <a:r>
              <a:t>Evidently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9176" y="4828032"/>
            <a:ext cx="228600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5B6776"/>
                </a:solidFill>
                <a:latin typeface="Arial"/>
              </a:defRPr>
            </a:pPr>
            <a:r>
              <a:t>Theo dõi drift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37960"/>
            <a:ext cx="384048" cy="2103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9BA3AD"/>
                </a:solidFill>
                <a:latin typeface="Arial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512</Words>
  <Application>Microsoft Office PowerPoint</Application>
  <PresentationFormat>Widescreen</PresentationFormat>
  <Paragraphs>181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Doan Tien Dung 202516747</cp:lastModifiedBy>
  <cp:revision>2</cp:revision>
  <dcterms:created xsi:type="dcterms:W3CDTF">2013-01-27T09:14:16Z</dcterms:created>
  <dcterms:modified xsi:type="dcterms:W3CDTF">2026-10-21T07:05:13Z</dcterms:modified>
  <cp:category/>
</cp:coreProperties>
</file>